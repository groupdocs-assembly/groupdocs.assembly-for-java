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/>
            </a:pPr>
            <a:r>
              <a:rPr lang="en-US" smtClean="0"/>
              <a:t>Total Contract Prices by Months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solidFill>
              <a:schemeClr val="accent1">
                <a:alpha val="75000"/>
              </a:schemeClr>
            </a:solidFill>
            <a:ln>
              <a:noFill/>
            </a:ln>
            <a:effectLst/>
          </c:spPr>
          <c:invertIfNegative val="0"/>
          <c:xVal>
            <c:numLit>
              <c:formatCode>General</c:formatCode>
              <c:ptCount val="6"/>
              <c:pt idx="0">
                <c:v>1</c:v>
              </c:pt>
              <c:pt idx="1">
                <c:v>4</c:v>
              </c:pt>
              <c:pt idx="2">
                <c:v>7</c:v>
              </c:pt>
              <c:pt idx="3">
                <c:v>2</c:v>
              </c:pt>
              <c:pt idx="4">
                <c:v>8</c:v>
              </c:pt>
              <c:pt idx="5">
                <c:v>5</c:v>
              </c:pt>
            </c:numLit>
          </c:xVal>
          <c:yVal>
            <c:numLit>
              <c:formatCode>General</c:formatCode>
              <c:ptCount val="6"/>
              <c:pt idx="0">
                <c:v>1200000</c:v>
              </c:pt>
              <c:pt idx="1">
                <c:v>750000</c:v>
              </c:pt>
              <c:pt idx="2">
                <c:v>450000</c:v>
              </c:pt>
              <c:pt idx="3">
                <c:v>1000000</c:v>
              </c:pt>
              <c:pt idx="4">
                <c:v>650000</c:v>
              </c:pt>
              <c:pt idx="5">
                <c:v>250000</c:v>
              </c:pt>
            </c:numLit>
          </c:yVal>
          <c:bubbleSize>
            <c:numLit>
              <c:formatCode>General</c:formatCode>
              <c:ptCount val="6"/>
              <c:pt idx="0">
                <c:v>1</c:v>
              </c:pt>
              <c:pt idx="1">
                <c:v>1</c:v>
              </c:pt>
              <c:pt idx="2">
                <c:v>2</c:v>
              </c:pt>
              <c:pt idx="3">
                <c:v>2</c:v>
              </c:pt>
              <c:pt idx="4">
                <c:v>2</c:v>
              </c:pt>
              <c:pt idx="5">
                <c:v>1</c:v>
              </c:pt>
            </c:numLit>
          </c:bubbleSize>
          <c:bubble3D val="1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bubbleScale/>
        <c:showNegBubbles val="0"/>
        <c:axId val="306318936"/>
        <c:axId val="278368640"/>
      </c:bubbleChart>
      <c:valAx>
        <c:axId val="306318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78368640"/>
        <c:crosses val="autoZero"/>
        <c:crossBetween val="midCat"/>
      </c:valAx>
      <c:valAx>
        <c:axId val="2783686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p>
            <a:pPr>
              <a:defRPr sz="900" b="0" i="0" u="none" strike="noStrike" kern="1200" baseline="0" smtId="4294967295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0631893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ru-RU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>
          <a:alpha val="75000"/>
        </a:schemeClr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3763021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0368502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2374208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57324312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00051224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117169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53348810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2386417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994047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02346465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6544548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E80BF9-78E3-4681-A56C-E36D53DC49C6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C07EC-0B9B-49E0-BB88-4243F91365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89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321709492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25970128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2015-10-26T13:35:08Z</dcterms:created>
  <dcterms:modified xsi:type="dcterms:W3CDTF">2026-09-25T12:40:59Z</dcterms:modified>
</cp:coreProperties>
</file>